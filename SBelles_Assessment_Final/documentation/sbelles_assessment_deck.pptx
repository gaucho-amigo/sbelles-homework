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Newsreader"/>
      <p:regular r:id="rId22"/>
      <p:bold r:id="rId23"/>
      <p:italic r:id="rId24"/>
      <p:boldItalic r:id="rId25"/>
    </p:embeddedFont>
    <p:embeddedFont>
      <p:font typeface="DM Sans Light"/>
      <p:regular r:id="rId26"/>
      <p:bold r:id="rId27"/>
      <p:italic r:id="rId28"/>
      <p:boldItalic r:id="rId29"/>
    </p:embeddedFont>
    <p:embeddedFont>
      <p:font typeface="DM Sans SemiBold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  <p:embeddedFont>
      <p:font typeface="Newsreader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7F0D1F-D5E7-41EF-B70A-96C0671516FD}">
  <a:tblStyle styleId="{CC7F0D1F-D5E7-41EF-B70A-96C0671516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wsreaderSemiBold-italic.fntdata"/><Relationship Id="rId41" Type="http://schemas.openxmlformats.org/officeDocument/2006/relationships/font" Target="fonts/Newsread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SemiBold-bold.fntdata"/><Relationship Id="rId30" Type="http://schemas.openxmlformats.org/officeDocument/2006/relationships/font" Target="fonts/DMSansSemiBold-regular.fntdata"/><Relationship Id="rId33" Type="http://schemas.openxmlformats.org/officeDocument/2006/relationships/font" Target="fonts/DMSansSemiBold-boldItalic.fntdata"/><Relationship Id="rId32" Type="http://schemas.openxmlformats.org/officeDocument/2006/relationships/font" Target="fonts/DMSansSemiBold-italic.fntdata"/><Relationship Id="rId35" Type="http://schemas.openxmlformats.org/officeDocument/2006/relationships/font" Target="fonts/DMSans-bold.fntdata"/><Relationship Id="rId34" Type="http://schemas.openxmlformats.org/officeDocument/2006/relationships/font" Target="fonts/DMSans-regular.fntdata"/><Relationship Id="rId37" Type="http://schemas.openxmlformats.org/officeDocument/2006/relationships/font" Target="fonts/DMSans-boldItalic.fntdata"/><Relationship Id="rId36" Type="http://schemas.openxmlformats.org/officeDocument/2006/relationships/font" Target="fonts/DMSans-italic.fntdata"/><Relationship Id="rId39" Type="http://schemas.openxmlformats.org/officeDocument/2006/relationships/font" Target="fonts/NewsreaderSemiBold-bold.fntdata"/><Relationship Id="rId38" Type="http://schemas.openxmlformats.org/officeDocument/2006/relationships/font" Target="fonts/NewsreaderSemiBold-regular.fntdata"/><Relationship Id="rId20" Type="http://schemas.openxmlformats.org/officeDocument/2006/relationships/slide" Target="slides/slide14.xml"/><Relationship Id="rId22" Type="http://schemas.openxmlformats.org/officeDocument/2006/relationships/font" Target="fonts/Newsreader-regular.fntdata"/><Relationship Id="rId21" Type="http://schemas.openxmlformats.org/officeDocument/2006/relationships/slide" Target="slides/slide15.xml"/><Relationship Id="rId24" Type="http://schemas.openxmlformats.org/officeDocument/2006/relationships/font" Target="fonts/Newsreader-italic.fntdata"/><Relationship Id="rId23" Type="http://schemas.openxmlformats.org/officeDocument/2006/relationships/font" Target="fonts/Newsreader-bold.fntdata"/><Relationship Id="rId26" Type="http://schemas.openxmlformats.org/officeDocument/2006/relationships/font" Target="fonts/DMSansLight-regular.fntdata"/><Relationship Id="rId25" Type="http://schemas.openxmlformats.org/officeDocument/2006/relationships/font" Target="fonts/Newsreader-boldItalic.fntdata"/><Relationship Id="rId28" Type="http://schemas.openxmlformats.org/officeDocument/2006/relationships/font" Target="fonts/DMSansLight-italic.fntdata"/><Relationship Id="rId27" Type="http://schemas.openxmlformats.org/officeDocument/2006/relationships/font" Target="fonts/DMSansLight-bold.fntdata"/><Relationship Id="rId29" Type="http://schemas.openxmlformats.org/officeDocument/2006/relationships/font" Target="fonts/DMSans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7bf9301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7bf930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7bf93011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7bf93011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8497cafa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8497cafa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8500840e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c8500840e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8497cafa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c8497cafa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8500840e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c8500840e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Traditional correlation-based models cannot explain where the return on $36M in marketing spend appears. This is the measurement gap causal AI is designed to close.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8500840e4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c8500840e4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8500840e4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c8500840e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c8500840e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c8500840e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Traditional correlation-based models cannot explain where the return on $36M in marketing spend appears. This is the measurement gap causal AI is designed to close.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8497cafaf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c8497cafaf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Avg. Daily Revenue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BTS: $1300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Peak Black Friday: $1800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83C40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Baseline: $800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All trends start and stop at the same time, across all channels (next slide)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c8497cafaf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c8497cafaf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During seasonal peaks, paid, search, and non-paid traffic rise simultaneously, making attribution ambiguous.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3C40"/>
                </a:solidFill>
                <a:latin typeface="DM Sans"/>
                <a:ea typeface="DM Sans"/>
                <a:cs typeface="DM Sans"/>
                <a:sym typeface="DM Sans"/>
              </a:rPr>
              <a:t>Paid social, search, and non-paid traffic all spike during BTS and Black Friday. Is paid spend causing the lift, or is shared seasonal demand driving everything?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8500840e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c8500840e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first glance, paid social spend is extremely correlated with both web traffic and revenue. The raw correlation between spend and sessions is 0.94, and between spend and revenue is 0.77.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we stopped here, we would conclude that our marketing investment is directly driving revenue with strong efficiency.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After removing 14-day seasonal trends, the paid funnel still shows structure: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Spend → Sessions: 0.78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Sessions → Revenue: 0.55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Spend → Revenue: 0.40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suggests that paid media does drive traffic, and traffic converts to revenue.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However, the magnitude of that relationship is far more modest than raw correlations imply.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Raw: Paid spend ↔ web sessions r=0.94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Deseasonalized: r=0.78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Partial correlation (spend → revenue | sessions): r=-0.03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After removing 14-day seasonal trends and controlling for web traffic, the direct paid-to-revenue relationship effectively disappears. Correlation alone cannot prove marketing works.</a:t>
            </a:r>
            <a:endParaRPr sz="1200">
              <a:solidFill>
                <a:srgbClr val="183C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c8500840e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c8500840e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c8500840e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c8500840e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8500840e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c8500840e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gaucho-amigo/sbelles-ho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923525"/>
            <a:ext cx="3860100" cy="16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S’Belles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Marketing Assessment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 Hoffman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2026-02-17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for Alembic Field Science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Engineering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Cross-Channel Analysis</a:t>
            </a:r>
            <a:endParaRPr/>
          </a:p>
        </p:txBody>
      </p:sp>
      <p:pic>
        <p:nvPicPr>
          <p:cNvPr id="472" name="Google Shape;47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850" y="3077213"/>
            <a:ext cx="16478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/>
        </p:nvSpPr>
        <p:spPr>
          <a:xfrm>
            <a:off x="4708075" y="1376732"/>
            <a:ext cx="40686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Kimball star schema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5 conformed dimensions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6 daily fact tables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78" name="Google Shape;478;p56"/>
          <p:cNvSpPr txBox="1"/>
          <p:nvPr/>
        </p:nvSpPr>
        <p:spPr>
          <a:xfrm>
            <a:off x="4708075" y="409357"/>
            <a:ext cx="40686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21 files inventoried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Schema drift assessed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Data quality flags identified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79" name="Google Shape;479;p56"/>
          <p:cNvSpPr txBox="1"/>
          <p:nvPr>
            <p:ph idx="4" type="subTitle"/>
          </p:nvPr>
        </p:nvSpPr>
        <p:spPr>
          <a:xfrm>
            <a:off x="361975" y="1854888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480" name="Google Shape;480;p56"/>
          <p:cNvSpPr txBox="1"/>
          <p:nvPr>
            <p:ph idx="6" type="subTitle"/>
          </p:nvPr>
        </p:nvSpPr>
        <p:spPr>
          <a:xfrm>
            <a:off x="361975" y="3906592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</a:t>
            </a:r>
            <a:endParaRPr/>
          </a:p>
        </p:txBody>
      </p:sp>
      <p:sp>
        <p:nvSpPr>
          <p:cNvPr id="481" name="Google Shape;481;p56"/>
          <p:cNvSpPr txBox="1"/>
          <p:nvPr>
            <p:ph idx="1" type="subTitle"/>
          </p:nvPr>
        </p:nvSpPr>
        <p:spPr>
          <a:xfrm>
            <a:off x="361975" y="2899159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</a:t>
            </a:r>
            <a:endParaRPr/>
          </a:p>
        </p:txBody>
      </p:sp>
      <p:sp>
        <p:nvSpPr>
          <p:cNvPr id="482" name="Google Shape;482;p56"/>
          <p:cNvSpPr txBox="1"/>
          <p:nvPr>
            <p:ph idx="3" type="subTitle"/>
          </p:nvPr>
        </p:nvSpPr>
        <p:spPr>
          <a:xfrm>
            <a:off x="361963" y="885172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</a:t>
            </a:r>
            <a:endParaRPr/>
          </a:p>
        </p:txBody>
      </p:sp>
      <p:sp>
        <p:nvSpPr>
          <p:cNvPr id="483" name="Google Shape;483;p56"/>
          <p:cNvSpPr txBox="1"/>
          <p:nvPr>
            <p:ph type="title"/>
          </p:nvPr>
        </p:nvSpPr>
        <p:spPr>
          <a:xfrm>
            <a:off x="222175" y="104075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</a:t>
            </a:r>
            <a:r>
              <a:rPr i="1" lang="en"/>
              <a:t>o</a:t>
            </a:r>
            <a:r>
              <a:rPr i="1" lang="en"/>
              <a:t>verview</a:t>
            </a:r>
            <a:endParaRPr i="1"/>
          </a:p>
        </p:txBody>
      </p:sp>
      <p:sp>
        <p:nvSpPr>
          <p:cNvPr id="484" name="Google Shape;484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85" name="Google Shape;485;p56"/>
          <p:cNvCxnSpPr/>
          <p:nvPr/>
        </p:nvCxnSpPr>
        <p:spPr>
          <a:xfrm flipH="1" rot="10800000">
            <a:off x="378475" y="3288538"/>
            <a:ext cx="7508400" cy="9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56"/>
          <p:cNvCxnSpPr/>
          <p:nvPr/>
        </p:nvCxnSpPr>
        <p:spPr>
          <a:xfrm>
            <a:off x="378475" y="2253567"/>
            <a:ext cx="7467600" cy="28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56"/>
          <p:cNvCxnSpPr/>
          <p:nvPr/>
        </p:nvCxnSpPr>
        <p:spPr>
          <a:xfrm>
            <a:off x="378475" y="4305271"/>
            <a:ext cx="7485000" cy="19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56"/>
          <p:cNvCxnSpPr/>
          <p:nvPr/>
        </p:nvCxnSpPr>
        <p:spPr>
          <a:xfrm flipH="1" rot="10800000">
            <a:off x="378462" y="1280551"/>
            <a:ext cx="7485000" cy="3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56"/>
          <p:cNvSpPr txBox="1"/>
          <p:nvPr/>
        </p:nvSpPr>
        <p:spPr>
          <a:xfrm>
            <a:off x="3891910" y="2862322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90" name="Google Shape;490;p56"/>
          <p:cNvSpPr txBox="1"/>
          <p:nvPr/>
        </p:nvSpPr>
        <p:spPr>
          <a:xfrm>
            <a:off x="3891910" y="1835422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91" name="Google Shape;491;p56"/>
          <p:cNvSpPr txBox="1"/>
          <p:nvPr/>
        </p:nvSpPr>
        <p:spPr>
          <a:xfrm>
            <a:off x="3891910" y="3904484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92" name="Google Shape;492;p56"/>
          <p:cNvSpPr txBox="1"/>
          <p:nvPr/>
        </p:nvSpPr>
        <p:spPr>
          <a:xfrm>
            <a:off x="3889583" y="848334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93" name="Google Shape;493;p56"/>
          <p:cNvSpPr txBox="1"/>
          <p:nvPr/>
        </p:nvSpPr>
        <p:spPr>
          <a:xfrm>
            <a:off x="4708075" y="2407877"/>
            <a:ext cx="40686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Modular Python pipeline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Automated validation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Financial reconciliation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94" name="Google Shape;494;p56"/>
          <p:cNvSpPr txBox="1"/>
          <p:nvPr/>
        </p:nvSpPr>
        <p:spPr>
          <a:xfrm>
            <a:off x="4708075" y="3543308"/>
            <a:ext cx="40686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Cross-channel summary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Lagged correlations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Deseasonalized signal analysis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495" name="Google Shape;495;p56"/>
          <p:cNvSpPr txBox="1"/>
          <p:nvPr/>
        </p:nvSpPr>
        <p:spPr>
          <a:xfrm>
            <a:off x="361975" y="4442450"/>
            <a:ext cx="8055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Objective: Transform fragmented marketing data into a coherent analytical foundation capable of supporting causal inference.</a:t>
            </a:r>
            <a:endParaRPr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7"/>
          <p:cNvSpPr txBox="1"/>
          <p:nvPr>
            <p:ph idx="4294967295" type="title"/>
          </p:nvPr>
        </p:nvSpPr>
        <p:spPr>
          <a:xfrm>
            <a:off x="311700" y="23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Landscape and Quality Assessment</a:t>
            </a:r>
            <a:endParaRPr/>
          </a:p>
        </p:txBody>
      </p:sp>
      <p:sp>
        <p:nvSpPr>
          <p:cNvPr id="501" name="Google Shape;501;p57"/>
          <p:cNvSpPr txBox="1"/>
          <p:nvPr>
            <p:ph idx="2" type="body"/>
          </p:nvPr>
        </p:nvSpPr>
        <p:spPr>
          <a:xfrm>
            <a:off x="364650" y="4584800"/>
            <a:ext cx="8414700" cy="39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21 source files across four granularities. All normalized to daily grain.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Full profiling results in schema_dictionary.md.</a:t>
            </a:r>
            <a:endParaRPr sz="1200"/>
          </a:p>
        </p:txBody>
      </p:sp>
      <p:graphicFrame>
        <p:nvGraphicFramePr>
          <p:cNvPr id="502" name="Google Shape;502;p57"/>
          <p:cNvGraphicFramePr/>
          <p:nvPr/>
        </p:nvGraphicFramePr>
        <p:xfrm>
          <a:off x="358638" y="1098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{CC7F0D1F-D5E7-41EF-B70A-96C0671516FD}</a:tableStyleId>
              </a:tblPr>
              <a:tblGrid>
                <a:gridCol w="1436125"/>
                <a:gridCol w="909650"/>
                <a:gridCol w="1159825"/>
                <a:gridCol w="2043450"/>
                <a:gridCol w="2971575"/>
              </a:tblGrid>
              <a:tr h="43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Stream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Files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Total Rows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Source Grain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Key Issue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Paid Social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9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24,615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daily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3 schema drift patterns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Web Analytics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4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54,306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event-level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3,072 duplicate rows (Dec 2023)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Ecommerce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17,106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event-level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105 negative revenue rows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Organic Social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646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daily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Noisy follower snapshots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Podcast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87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irregular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No geographic field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OOH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1,560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weekly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No state/DMA field*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44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3" name="Google Shape;503;p57"/>
          <p:cNvSpPr txBox="1"/>
          <p:nvPr>
            <p:ph idx="2" type="body"/>
          </p:nvPr>
        </p:nvSpPr>
        <p:spPr>
          <a:xfrm>
            <a:off x="364650" y="3977488"/>
            <a:ext cx="8414700" cy="39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*Digital marketing and ecommerce are Georgia-only (5 DMAs). OOH airport advertising is national (20 airports across 19 states). This geographic scope mismatch shapes all downstream spend-to-revenue comparisons.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8"/>
          <p:cNvSpPr txBox="1"/>
          <p:nvPr>
            <p:ph idx="4294967295" type="title"/>
          </p:nvPr>
        </p:nvSpPr>
        <p:spPr>
          <a:xfrm>
            <a:off x="311700" y="237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Quality Resolution</a:t>
            </a:r>
            <a:endParaRPr/>
          </a:p>
        </p:txBody>
      </p:sp>
      <p:graphicFrame>
        <p:nvGraphicFramePr>
          <p:cNvPr id="509" name="Google Shape;509;p58"/>
          <p:cNvGraphicFramePr/>
          <p:nvPr/>
        </p:nvGraphicFramePr>
        <p:xfrm>
          <a:off x="287663" y="1016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{CC7F0D1F-D5E7-41EF-B70A-96C0671516FD}</a:tableStyleId>
              </a:tblPr>
              <a:tblGrid>
                <a:gridCol w="2327350"/>
                <a:gridCol w="3363700"/>
                <a:gridCol w="2877625"/>
              </a:tblGrid>
              <a:tr h="34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Issue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Resolution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Validation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Schema drift (3 patterns across paid social)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Column renames, null fills for missing fields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 files unified to 17-column schema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Dec 2023 duplicate rows (web analytics)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Q3Q4 file authoritative, 3,072 rows dropped from Q1 file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Post-dedup count verified: 51,234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Negative revenue (ecommerce)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Preserved as-is, discount exceeds price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105 rows, -$2,100 total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1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Noisy followers (organic social)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Daily MAX as end-of-day snapshot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47.7% day-over-day decreases documented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No campaign FK linking across streams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Semantic bridge table (dim_campaign_initiative)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6 initiative mappings created to enable</a:t>
                      </a:r>
                      <a:r>
                        <a:rPr lang="en" sz="1200"/>
                        <a:t> attribution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Weekly OOH grain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Uniform 7-day expansion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/>
                        <a:t>1,560 → 10,920 rows, spend reconciled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0" name="Google Shape;510;p58"/>
          <p:cNvSpPr txBox="1"/>
          <p:nvPr/>
        </p:nvSpPr>
        <p:spPr>
          <a:xfrm>
            <a:off x="336763" y="4681125"/>
            <a:ext cx="8470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Detailed transformation logic in transformation_notes.md. All assumptions in assumptions.md.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9"/>
          <p:cNvSpPr txBox="1"/>
          <p:nvPr>
            <p:ph idx="4294967295" type="title"/>
          </p:nvPr>
        </p:nvSpPr>
        <p:spPr>
          <a:xfrm>
            <a:off x="311700" y="8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Warehouse Structure</a:t>
            </a:r>
            <a:endParaRPr/>
          </a:p>
        </p:txBody>
      </p:sp>
      <p:sp>
        <p:nvSpPr>
          <p:cNvPr id="516" name="Google Shape;516;p59"/>
          <p:cNvSpPr txBox="1"/>
          <p:nvPr>
            <p:ph idx="2" type="body"/>
          </p:nvPr>
        </p:nvSpPr>
        <p:spPr>
          <a:xfrm>
            <a:off x="746850" y="4262750"/>
            <a:ext cx="7650300" cy="83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Every fact table joins through dim_date. Geographic facts join through dim_geography. Dim_campaign_initiative badges paid social and web analytics.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Designed to support daily-grain cross-channel analysis as required by assignment normalization constraint.</a:t>
            </a:r>
            <a:endParaRPr sz="1200"/>
          </a:p>
        </p:txBody>
      </p:sp>
      <p:pic>
        <p:nvPicPr>
          <p:cNvPr id="517" name="Google Shape;51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137" y="755134"/>
            <a:ext cx="5805727" cy="345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Directory Structure</a:t>
            </a:r>
            <a:endParaRPr/>
          </a:p>
        </p:txBody>
      </p:sp>
      <p:sp>
        <p:nvSpPr>
          <p:cNvPr id="523" name="Google Shape;523;p60"/>
          <p:cNvSpPr txBox="1"/>
          <p:nvPr>
            <p:ph idx="1" type="body"/>
          </p:nvPr>
        </p:nvSpPr>
        <p:spPr>
          <a:xfrm>
            <a:off x="251400" y="4037600"/>
            <a:ext cx="8735100" cy="10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Six datastreams grouped by source system and analytical use case.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Dimensions folder contains conformed tables enabling cross-channel joins.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Alternative structure justified by Kimball dimensional modeling approach.</a:t>
            </a:r>
            <a:endParaRPr/>
          </a:p>
        </p:txBody>
      </p:sp>
      <p:pic>
        <p:nvPicPr>
          <p:cNvPr id="524" name="Google Shape;524;p60" title="Screenshot 2026-02-16 at 6.09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075" y="1331512"/>
            <a:ext cx="7145851" cy="24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Assumptions</a:t>
            </a:r>
            <a:endParaRPr/>
          </a:p>
        </p:txBody>
      </p:sp>
      <p:sp>
        <p:nvSpPr>
          <p:cNvPr id="530" name="Google Shape;530;p61"/>
          <p:cNvSpPr txBox="1"/>
          <p:nvPr>
            <p:ph idx="1" type="body"/>
          </p:nvPr>
        </p:nvSpPr>
        <p:spPr>
          <a:xfrm>
            <a:off x="311700" y="1152475"/>
            <a:ext cx="8520600" cy="22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Core factors in DW build include: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Weekly OOH spend distributed evenly across 7 days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Q3Q4 2023 file authoritative for December 2023 duplicates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Negative revenue rows preserved (discount exceeds price)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Followers treated as daily snapshot (MAX per day)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Initiative-level campaign alignment required semantic mapping</a:t>
            </a:r>
            <a:endParaRPr sz="2100"/>
          </a:p>
        </p:txBody>
      </p:sp>
      <p:sp>
        <p:nvSpPr>
          <p:cNvPr id="531" name="Google Shape;531;p61"/>
          <p:cNvSpPr txBox="1"/>
          <p:nvPr/>
        </p:nvSpPr>
        <p:spPr>
          <a:xfrm>
            <a:off x="336750" y="4523300"/>
            <a:ext cx="84705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Full list of assumptions documented in assumptions.md. 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Further </a:t>
            </a: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rationale and data </a:t>
            </a: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mapping</a:t>
            </a: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information can be found in schema_dictionary.md.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2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&amp; </a:t>
            </a:r>
            <a:r>
              <a:rPr lang="en"/>
              <a:t>Reproducibility</a:t>
            </a:r>
            <a:endParaRPr/>
          </a:p>
        </p:txBody>
      </p:sp>
      <p:sp>
        <p:nvSpPr>
          <p:cNvPr id="537" name="Google Shape;537;p6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DW matches source files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$5,986,609.08: Total paid social spend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$29,519,757.25: Total OOH spend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$498,071.00: Total ecommerce revenue</a:t>
            </a:r>
            <a:endParaRPr/>
          </a:p>
        </p:txBody>
      </p:sp>
      <p:sp>
        <p:nvSpPr>
          <p:cNvPr id="538" name="Google Shape;538;p62"/>
          <p:cNvSpPr txBox="1"/>
          <p:nvPr>
            <p:ph idx="1" type="body"/>
          </p:nvPr>
        </p:nvSpPr>
        <p:spPr>
          <a:xfrm>
            <a:off x="483175" y="2417500"/>
            <a:ext cx="24555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Financials: </a:t>
            </a:r>
            <a:r>
              <a:rPr lang="en"/>
              <a:t>Source files align with fact tables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Grain Uniqueness: No duplicate rows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De-Duplication validation (web analytics)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Date Range validation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Source Grain -&gt; Daily Alignment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48 Warehouse Checks Passed</a:t>
            </a:r>
            <a:endParaRPr/>
          </a:p>
        </p:txBody>
      </p:sp>
      <p:sp>
        <p:nvSpPr>
          <p:cNvPr id="540" name="Google Shape;540;p6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Reconciliation</a:t>
            </a:r>
            <a:endParaRPr/>
          </a:p>
        </p:txBody>
      </p:sp>
      <p:sp>
        <p:nvSpPr>
          <p:cNvPr id="541" name="Google Shape;541;p6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rebuild entry point</a:t>
            </a:r>
            <a:endParaRPr/>
          </a:p>
        </p:txBody>
      </p:sp>
      <p:sp>
        <p:nvSpPr>
          <p:cNvPr id="542" name="Google Shape;542;p6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rebuild (rebuild_all.py) completes in ~6 seconds for all DW tables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6 daily fact tables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2 source grain tables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5 dimension tables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3"/>
          <p:cNvSpPr txBox="1"/>
          <p:nvPr>
            <p:ph idx="1" type="body"/>
          </p:nvPr>
        </p:nvSpPr>
        <p:spPr>
          <a:xfrm>
            <a:off x="264750" y="4524350"/>
            <a:ext cx="8520600" cy="5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$29.5M of the $36M total spend is national OOH airport advertising.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Georgia-only comparison: $6M paid social spend vs. $498K tracked revenue.</a:t>
            </a:r>
            <a:endParaRPr/>
          </a:p>
        </p:txBody>
      </p:sp>
      <p:sp>
        <p:nvSpPr>
          <p:cNvPr id="548" name="Google Shape;548;p63"/>
          <p:cNvSpPr txBox="1"/>
          <p:nvPr>
            <p:ph type="title"/>
          </p:nvPr>
        </p:nvSpPr>
        <p:spPr>
          <a:xfrm>
            <a:off x="311700" y="8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Spend–Revenue Discrepancy</a:t>
            </a:r>
            <a:endParaRPr/>
          </a:p>
        </p:txBody>
      </p:sp>
      <p:pic>
        <p:nvPicPr>
          <p:cNvPr id="549" name="Google Shape;5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419" y="809100"/>
            <a:ext cx="7095281" cy="359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4"/>
          <p:cNvSpPr txBox="1"/>
          <p:nvPr>
            <p:ph type="title"/>
          </p:nvPr>
        </p:nvSpPr>
        <p:spPr>
          <a:xfrm>
            <a:off x="311700" y="8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Seasonal Revenue Patterns</a:t>
            </a:r>
            <a:endParaRPr/>
          </a:p>
        </p:txBody>
      </p:sp>
      <p:sp>
        <p:nvSpPr>
          <p:cNvPr id="555" name="Google Shape;555;p64"/>
          <p:cNvSpPr txBox="1"/>
          <p:nvPr>
            <p:ph idx="1" type="body"/>
          </p:nvPr>
        </p:nvSpPr>
        <p:spPr>
          <a:xfrm>
            <a:off x="264750" y="4535900"/>
            <a:ext cx="85206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Follows Seasonal Demand. Back-To-School and Black Friday Drive Growth.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increases 62% during BTS vs baseline.</a:t>
            </a:r>
            <a:endParaRPr/>
          </a:p>
        </p:txBody>
      </p:sp>
      <p:pic>
        <p:nvPicPr>
          <p:cNvPr id="556" name="Google Shape;55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950" y="951723"/>
            <a:ext cx="6814198" cy="345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1613" y="758572"/>
            <a:ext cx="6560773" cy="367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5"/>
          <p:cNvSpPr txBox="1"/>
          <p:nvPr>
            <p:ph type="title"/>
          </p:nvPr>
        </p:nvSpPr>
        <p:spPr>
          <a:xfrm>
            <a:off x="311700" y="8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Channels Move Together</a:t>
            </a:r>
            <a:endParaRPr/>
          </a:p>
        </p:txBody>
      </p:sp>
      <p:sp>
        <p:nvSpPr>
          <p:cNvPr id="563" name="Google Shape;563;p65"/>
          <p:cNvSpPr txBox="1"/>
          <p:nvPr>
            <p:ph idx="1" type="body"/>
          </p:nvPr>
        </p:nvSpPr>
        <p:spPr>
          <a:xfrm>
            <a:off x="264750" y="4551350"/>
            <a:ext cx="8520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sources rise in lockstep at seasonal peaks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paid spend causing the lift, or is shared seasonal demand driving everything?</a:t>
            </a:r>
            <a:endParaRPr/>
          </a:p>
        </p:txBody>
      </p:sp>
      <p:pic>
        <p:nvPicPr>
          <p:cNvPr id="564" name="Google Shape;56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113" y="758025"/>
            <a:ext cx="6279859" cy="362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03" y="1608801"/>
            <a:ext cx="3970749" cy="219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6"/>
          <p:cNvSpPr txBox="1"/>
          <p:nvPr>
            <p:ph type="title"/>
          </p:nvPr>
        </p:nvSpPr>
        <p:spPr>
          <a:xfrm>
            <a:off x="479700" y="142400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Raw vs. Deseasonalized Signal</a:t>
            </a:r>
            <a:endParaRPr/>
          </a:p>
        </p:txBody>
      </p:sp>
      <p:sp>
        <p:nvSpPr>
          <p:cNvPr id="571" name="Google Shape;571;p66"/>
          <p:cNvSpPr txBox="1"/>
          <p:nvPr>
            <p:ph idx="1" type="body"/>
          </p:nvPr>
        </p:nvSpPr>
        <p:spPr>
          <a:xfrm>
            <a:off x="304175" y="3961600"/>
            <a:ext cx="3970800" cy="7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</a:t>
            </a:r>
            <a:r>
              <a:rPr lang="en"/>
              <a:t>Lag 0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Spend → Sessions: 0.94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Spend → Revenue: 0.77</a:t>
            </a:r>
            <a:endParaRPr/>
          </a:p>
        </p:txBody>
      </p:sp>
      <p:sp>
        <p:nvSpPr>
          <p:cNvPr id="572" name="Google Shape;572;p66"/>
          <p:cNvSpPr txBox="1"/>
          <p:nvPr>
            <p:ph idx="3" type="subTitle"/>
          </p:nvPr>
        </p:nvSpPr>
        <p:spPr>
          <a:xfrm>
            <a:off x="304175" y="1066100"/>
            <a:ext cx="3970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Marketing v. Revenue Data</a:t>
            </a:r>
            <a:endParaRPr/>
          </a:p>
        </p:txBody>
      </p:sp>
      <p:sp>
        <p:nvSpPr>
          <p:cNvPr id="573" name="Google Shape;573;p66"/>
          <p:cNvSpPr txBox="1"/>
          <p:nvPr>
            <p:ph idx="4" type="subTitle"/>
          </p:nvPr>
        </p:nvSpPr>
        <p:spPr>
          <a:xfrm>
            <a:off x="4869025" y="1066100"/>
            <a:ext cx="3970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Deseasonalized with Control</a:t>
            </a:r>
            <a:endParaRPr/>
          </a:p>
        </p:txBody>
      </p:sp>
      <p:pic>
        <p:nvPicPr>
          <p:cNvPr id="574" name="Google Shape;57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050" y="1620437"/>
            <a:ext cx="3970749" cy="216956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6"/>
          <p:cNvSpPr txBox="1"/>
          <p:nvPr>
            <p:ph idx="2" type="body"/>
          </p:nvPr>
        </p:nvSpPr>
        <p:spPr>
          <a:xfrm>
            <a:off x="4869025" y="3852300"/>
            <a:ext cx="39708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14-day detrending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Spend → Sessions: 0.78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Spend → Revenue: 0.40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Spend → Revenue | Sessions: -0.03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7"/>
          <p:cNvSpPr txBox="1"/>
          <p:nvPr>
            <p:ph idx="2" type="body"/>
          </p:nvPr>
        </p:nvSpPr>
        <p:spPr>
          <a:xfrm>
            <a:off x="3347725" y="241750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 drift, duplicated data, and temporal misalignment resolved in data transformations.</a:t>
            </a:r>
            <a:endParaRPr/>
          </a:p>
        </p:txBody>
      </p:sp>
      <p:sp>
        <p:nvSpPr>
          <p:cNvPr id="581" name="Google Shape;581;p67"/>
          <p:cNvSpPr txBox="1"/>
          <p:nvPr>
            <p:ph idx="1" type="body"/>
          </p:nvPr>
        </p:nvSpPr>
        <p:spPr>
          <a:xfrm>
            <a:off x="483175" y="2417500"/>
            <a:ext cx="2455500" cy="7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Six fragmented marketing</a:t>
            </a:r>
            <a:r>
              <a:rPr lang="en"/>
              <a:t> streams are normalized to a daily analytical grain.</a:t>
            </a:r>
            <a:endParaRPr/>
          </a:p>
        </p:txBody>
      </p:sp>
      <p:sp>
        <p:nvSpPr>
          <p:cNvPr id="582" name="Google Shape;582;p6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583" name="Google Shape;583;p6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Streamlined Data</a:t>
            </a:r>
            <a:endParaRPr/>
          </a:p>
        </p:txBody>
      </p:sp>
      <p:sp>
        <p:nvSpPr>
          <p:cNvPr id="584" name="Google Shape;584;p6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Risks Mitigated</a:t>
            </a:r>
            <a:endParaRPr/>
          </a:p>
        </p:txBody>
      </p:sp>
      <p:sp>
        <p:nvSpPr>
          <p:cNvPr id="585" name="Google Shape;585;p6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Reproducible</a:t>
            </a:r>
            <a:r>
              <a:rPr lang="en"/>
              <a:t> Analytical Infrastructure</a:t>
            </a:r>
            <a:endParaRPr/>
          </a:p>
        </p:txBody>
      </p:sp>
      <p:sp>
        <p:nvSpPr>
          <p:cNvPr id="586" name="Google Shape;586;p67"/>
          <p:cNvSpPr txBox="1"/>
          <p:nvPr>
            <p:ph idx="6" type="body"/>
          </p:nvPr>
        </p:nvSpPr>
        <p:spPr>
          <a:xfrm>
            <a:off x="6212275" y="2417500"/>
            <a:ext cx="24555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Warehouse i</a:t>
            </a:r>
            <a:r>
              <a:rPr lang="en"/>
              <a:t>nfrastructure now supports coherent cross-channel analysis.</a:t>
            </a:r>
            <a:endParaRPr/>
          </a:p>
        </p:txBody>
      </p:sp>
      <p:sp>
        <p:nvSpPr>
          <p:cNvPr id="587" name="Google Shape;587;p67"/>
          <p:cNvSpPr txBox="1"/>
          <p:nvPr/>
        </p:nvSpPr>
        <p:spPr>
          <a:xfrm>
            <a:off x="512100" y="4196150"/>
            <a:ext cx="8213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Bottom Line: Fragmented marketing data has been transformed into a coherent analytical foundation.</a:t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8"/>
          <p:cNvSpPr txBox="1"/>
          <p:nvPr>
            <p:ph idx="2" type="body"/>
          </p:nvPr>
        </p:nvSpPr>
        <p:spPr>
          <a:xfrm>
            <a:off x="3347725" y="2417500"/>
            <a:ext cx="24555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arned media should be modeled separately from paid to detect incremental lift.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Podcast mentions and organic TikTok growth show weak but present correlation signals that MMM would miss entirely.</a:t>
            </a:r>
            <a:endParaRPr/>
          </a:p>
        </p:txBody>
      </p:sp>
      <p:sp>
        <p:nvSpPr>
          <p:cNvPr id="593" name="Google Shape;593;p68"/>
          <p:cNvSpPr txBox="1"/>
          <p:nvPr>
            <p:ph idx="1" type="body"/>
          </p:nvPr>
        </p:nvSpPr>
        <p:spPr>
          <a:xfrm>
            <a:off x="483175" y="2417500"/>
            <a:ext cx="24555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Future analytical extensions enabled by infrastructure. </a:t>
            </a:r>
            <a:endParaRPr/>
          </a:p>
        </p:txBody>
      </p:sp>
      <p:sp>
        <p:nvSpPr>
          <p:cNvPr id="594" name="Google Shape;594;p6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Recommendations: Next Steps</a:t>
            </a:r>
            <a:endParaRPr/>
          </a:p>
        </p:txBody>
      </p:sp>
      <p:sp>
        <p:nvSpPr>
          <p:cNvPr id="595" name="Google Shape;595;p6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directional information flow.</a:t>
            </a:r>
            <a:endParaRPr/>
          </a:p>
        </p:txBody>
      </p:sp>
      <p:sp>
        <p:nvSpPr>
          <p:cNvPr id="596" name="Google Shape;596;p6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Earned Media Impact.</a:t>
            </a:r>
            <a:endParaRPr/>
          </a:p>
        </p:txBody>
      </p:sp>
      <p:sp>
        <p:nvSpPr>
          <p:cNvPr id="597" name="Google Shape;597;p6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Campaign-Level Attribution.</a:t>
            </a:r>
            <a:endParaRPr/>
          </a:p>
        </p:txBody>
      </p:sp>
      <p:sp>
        <p:nvSpPr>
          <p:cNvPr id="598" name="Google Shape;598;p68"/>
          <p:cNvSpPr txBox="1"/>
          <p:nvPr>
            <p:ph idx="6" type="body"/>
          </p:nvPr>
        </p:nvSpPr>
        <p:spPr>
          <a:xfrm>
            <a:off x="6212275" y="2417500"/>
            <a:ext cx="24555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campaign-level attribution using the initiative bridge table. Test whether BTS and Always On campaigns show different causal patterns across platforms.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summary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48/48 validation checks passed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Spend and revenue reconcile to source totals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Single rebuild script regenerates full warehouse (</a:t>
            </a:r>
            <a:r>
              <a:rPr lang="en"/>
              <a:t>13 output tables) </a:t>
            </a:r>
            <a:r>
              <a:rPr lang="en"/>
              <a:t>in 6 seconds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Coding: </a:t>
            </a:r>
            <a:r>
              <a:rPr lang="en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S’Belles Homework Github</a:t>
            </a:r>
            <a:endParaRPr/>
          </a:p>
        </p:txBody>
      </p:sp>
      <p:sp>
        <p:nvSpPr>
          <p:cNvPr id="604" name="Google Shape;60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| Technical Details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